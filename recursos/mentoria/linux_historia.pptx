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13.png" ContentType="image/png"/>
  <Override PartName="/ppt/media/image50.png" ContentType="image/png"/>
  <Override PartName="/ppt/media/image36.png" ContentType="image/png"/>
  <Override PartName="/ppt/media/image4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11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4B8EFEB-A9FB-4D21-8D36-10CA8999B0C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764064-EF36-4FB4-B654-18C7234338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FBEC8D-09F1-4EAB-999A-BD3CD884B9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FB091F-0F11-44B7-BA4C-43B424B0E2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FD516B-8789-434A-8E2A-CA3D7418A1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E0B7B3-3954-4806-B82E-312F7CF428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16D19F-60CE-4820-93C7-08506698C5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E1868A-64B5-4226-A413-7A617A13F4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CAC42A-CBD6-4821-91D8-C6AF826C18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8C51CB-1BCB-4558-9F82-547B30FC9F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29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22960" y="1371600"/>
            <a:ext cx="6033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94" strike="noStrike">
                <a:solidFill>
                  <a:srgbClr val="f0a83e"/>
                </a:solidFill>
                <a:latin typeface="Courier New"/>
                <a:ea typeface="Courier New"/>
              </a:rPr>
              <a:t>INTRODUCCIÓN A LINUX · FUNDAMENTOS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22960" y="1828800"/>
            <a:ext cx="594252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6000"/>
              </a:lnSpc>
              <a:tabLst>
                <a:tab algn="l" pos="0"/>
              </a:tabLst>
            </a:pPr>
            <a:r>
              <a:rPr b="1" lang="en-US" sz="3900" spc="-1" strike="noStrike">
                <a:solidFill>
                  <a:srgbClr val="f0f6fc"/>
                </a:solidFill>
                <a:latin typeface="Arial"/>
                <a:ea typeface="Arial"/>
              </a:rPr>
              <a:t>Introducción a los Fundamentos de Linux</a:t>
            </a:r>
            <a:endParaRPr b="0" lang="en-US" sz="3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3793680"/>
            <a:ext cx="575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39d353"/>
                </a:solidFill>
                <a:latin typeface="Calibri"/>
                <a:ea typeface="Calibri"/>
              </a:rPr>
              <a:t>¿Por qué Linux importa?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5989320"/>
            <a:ext cx="57596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92" strike="noStrike">
                <a:solidFill>
                  <a:srgbClr val="8b949e"/>
                </a:solidFill>
                <a:latin typeface="Courier New"/>
                <a:ea typeface="Courier New"/>
              </a:rPr>
              <a:t>HISTORIA  ·  FILOSOFÍA  ·  CIBERSEGURIDAD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720840" y="1051560"/>
            <a:ext cx="4890960" cy="4662360"/>
          </a:xfrm>
          <a:prstGeom prst="roundRect">
            <a:avLst>
              <a:gd name="adj" fmla="val 1765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720840" y="1051560"/>
            <a:ext cx="4890960" cy="383040"/>
          </a:xfrm>
          <a:prstGeom prst="roundRect">
            <a:avLst>
              <a:gd name="adj" fmla="val 21429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940440" y="1184040"/>
            <a:ext cx="117720" cy="117720"/>
          </a:xfrm>
          <a:prstGeom prst="ellipse">
            <a:avLst/>
          </a:prstGeom>
          <a:solidFill>
            <a:srgbClr val="e553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7196400" y="1184040"/>
            <a:ext cx="117720" cy="117720"/>
          </a:xfrm>
          <a:prstGeom prst="ellipse">
            <a:avLst/>
          </a:prstGeom>
          <a:solidFill>
            <a:srgbClr val="f0a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452360" y="1184040"/>
            <a:ext cx="117720" cy="11772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720840" y="1078920"/>
            <a:ext cx="4890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b949e"/>
                </a:solidFill>
                <a:latin typeface="Courier New"/>
                <a:ea typeface="Courier New"/>
              </a:rPr>
              <a:t>bash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013520" y="167328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1d9"/>
                </a:solidFill>
                <a:latin typeface="Courier New"/>
                <a:ea typeface="Courier New"/>
              </a:rPr>
              <a:t>root@kernel:~$ uname -a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013520" y="210780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ourier New"/>
                <a:ea typeface="Courier New"/>
              </a:rPr>
              <a:t>Fundamentos de Linux 1.0.0 # CCC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013520" y="254196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013520" y="297648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9d1d9"/>
                </a:solidFill>
                <a:latin typeface="Courier New"/>
                <a:ea typeface="Courier New"/>
              </a:rPr>
              <a:t>root@kernel:~$ cat mision.txt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013520" y="341064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9d353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39d353"/>
                </a:solidFill>
                <a:latin typeface="Courier New"/>
                <a:ea typeface="Courier New"/>
              </a:rPr>
              <a:t>&gt; comprender el sistema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013520" y="384516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9d353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39d353"/>
                </a:solidFill>
                <a:latin typeface="Courier New"/>
                <a:ea typeface="Courier New"/>
              </a:rPr>
              <a:t>&gt; dominar la terminal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013520" y="427932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9d353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39d353"/>
                </a:solidFill>
                <a:latin typeface="Courier New"/>
                <a:ea typeface="Courier New"/>
              </a:rPr>
              <a:t>&gt; pensar en clave de ciberseguridad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7013520" y="471384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013520" y="5148000"/>
            <a:ext cx="4342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0a83e"/>
                </a:solidFill>
                <a:latin typeface="Courier New"/>
                <a:ea typeface="Courier New"/>
              </a:rPr>
              <a:t>root@kernel:~$ _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40"/>
          <p:cNvSpPr/>
          <p:nvPr/>
        </p:nvSpPr>
        <p:spPr>
          <a:xfrm>
            <a:off x="822960" y="4388040"/>
            <a:ext cx="575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400" spc="92" strike="noStrike">
                <a:solidFill>
                  <a:srgbClr val="8b949e"/>
                </a:solidFill>
                <a:latin typeface="Courier New"/>
                <a:ea typeface="Courier New"/>
              </a:rPr>
              <a:t>Edson Alonso Quispe Estrada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640080" y="348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AGENDA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640080" y="67716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f0f6fc"/>
                </a:solidFill>
                <a:latin typeface="Arial"/>
                <a:ea typeface="Arial"/>
              </a:rPr>
              <a:t>¿Qué vamos a aprender?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640080" y="1583640"/>
            <a:ext cx="10910520" cy="840240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859680" y="1720800"/>
            <a:ext cx="565920" cy="565920"/>
          </a:xfrm>
          <a:prstGeom prst="ellipse">
            <a:avLst/>
          </a:prstGeom>
          <a:solidFill>
            <a:srgbClr val="0b0f14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Image 0" descr="preencoded.png"/>
          <p:cNvPicPr/>
          <p:nvPr/>
        </p:nvPicPr>
        <p:blipFill>
          <a:blip r:embed="rId1"/>
          <a:stretch/>
        </p:blipFill>
        <p:spPr>
          <a:xfrm>
            <a:off x="1012680" y="187380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33" name="Text 4"/>
          <p:cNvSpPr/>
          <p:nvPr/>
        </p:nvSpPr>
        <p:spPr>
          <a:xfrm>
            <a:off x="1600200" y="1583640"/>
            <a:ext cx="963036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9d1d9"/>
                </a:solidFill>
                <a:latin typeface="Calibri"/>
                <a:ea typeface="Calibri"/>
              </a:rPr>
              <a:t>Qué es Linux y qué lo diferencia de UNIX.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640080" y="2571120"/>
            <a:ext cx="10910520" cy="840240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859680" y="2708280"/>
            <a:ext cx="565920" cy="565920"/>
          </a:xfrm>
          <a:prstGeom prst="ellipse">
            <a:avLst/>
          </a:prstGeom>
          <a:solidFill>
            <a:srgbClr val="0b0f14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1" descr="preencoded.png"/>
          <p:cNvPicPr/>
          <p:nvPr/>
        </p:nvPicPr>
        <p:blipFill>
          <a:blip r:embed="rId2"/>
          <a:stretch/>
        </p:blipFill>
        <p:spPr>
          <a:xfrm>
            <a:off x="1012680" y="286128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37" name="Text 7"/>
          <p:cNvSpPr/>
          <p:nvPr/>
        </p:nvSpPr>
        <p:spPr>
          <a:xfrm>
            <a:off x="1600200" y="2571120"/>
            <a:ext cx="963036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9d1d9"/>
                </a:solidFill>
                <a:latin typeface="Calibri"/>
                <a:ea typeface="Calibri"/>
              </a:rPr>
              <a:t>Cómo surgió y qué problemas buscaba resolver.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640080" y="3558600"/>
            <a:ext cx="10910520" cy="840240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859680" y="3695760"/>
            <a:ext cx="565920" cy="565920"/>
          </a:xfrm>
          <a:prstGeom prst="ellipse">
            <a:avLst/>
          </a:prstGeom>
          <a:solidFill>
            <a:srgbClr val="0b0f14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Image 2" descr="preencoded.png"/>
          <p:cNvPicPr/>
          <p:nvPr/>
        </p:nvPicPr>
        <p:blipFill>
          <a:blip r:embed="rId3"/>
          <a:stretch/>
        </p:blipFill>
        <p:spPr>
          <a:xfrm>
            <a:off x="1012680" y="384912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41" name="Text 10"/>
          <p:cNvSpPr/>
          <p:nvPr/>
        </p:nvSpPr>
        <p:spPr>
          <a:xfrm>
            <a:off x="1600200" y="3558600"/>
            <a:ext cx="963036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9d1d9"/>
                </a:solidFill>
                <a:latin typeface="Calibri"/>
                <a:ea typeface="Calibri"/>
              </a:rPr>
              <a:t>Qué papel tuvieron UNIX, GNU y MINIX en su historia.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1"/>
          <p:cNvSpPr/>
          <p:nvPr/>
        </p:nvSpPr>
        <p:spPr>
          <a:xfrm>
            <a:off x="640080" y="4546440"/>
            <a:ext cx="10910520" cy="840240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>
            <a:off x="859680" y="4683600"/>
            <a:ext cx="565920" cy="565920"/>
          </a:xfrm>
          <a:prstGeom prst="ellipse">
            <a:avLst/>
          </a:prstGeom>
          <a:solidFill>
            <a:srgbClr val="0b0f14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3" descr="preencoded.png"/>
          <p:cNvPicPr/>
          <p:nvPr/>
        </p:nvPicPr>
        <p:blipFill>
          <a:blip r:embed="rId4"/>
          <a:stretch/>
        </p:blipFill>
        <p:spPr>
          <a:xfrm>
            <a:off x="1012680" y="483660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45" name="Text 13"/>
          <p:cNvSpPr/>
          <p:nvPr/>
        </p:nvSpPr>
        <p:spPr>
          <a:xfrm>
            <a:off x="1600200" y="4546440"/>
            <a:ext cx="963036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9d1d9"/>
                </a:solidFill>
                <a:latin typeface="Calibri"/>
                <a:ea typeface="Calibri"/>
              </a:rPr>
              <a:t>Cómo Linux pasó de ser un proyecto personal a convertirse en un ecosistema global.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4"/>
          <p:cNvSpPr/>
          <p:nvPr/>
        </p:nvSpPr>
        <p:spPr>
          <a:xfrm>
            <a:off x="640080" y="5533920"/>
            <a:ext cx="10910520" cy="840240"/>
          </a:xfrm>
          <a:prstGeom prst="roundRect">
            <a:avLst>
              <a:gd name="adj" fmla="val 9783"/>
            </a:avLst>
          </a:prstGeom>
          <a:solidFill>
            <a:srgbClr val="141b22"/>
          </a:solidFill>
          <a:ln w="9525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859680" y="5671080"/>
            <a:ext cx="565920" cy="565920"/>
          </a:xfrm>
          <a:prstGeom prst="ellipse">
            <a:avLst/>
          </a:prstGeom>
          <a:solidFill>
            <a:srgbClr val="0b0f14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Image 4" descr="preencoded.png"/>
          <p:cNvPicPr/>
          <p:nvPr/>
        </p:nvPicPr>
        <p:blipFill>
          <a:blip r:embed="rId5"/>
          <a:stretch/>
        </p:blipFill>
        <p:spPr>
          <a:xfrm>
            <a:off x="1012680" y="5824080"/>
            <a:ext cx="259560" cy="259560"/>
          </a:xfrm>
          <a:prstGeom prst="rect">
            <a:avLst/>
          </a:prstGeom>
          <a:ln w="0">
            <a:noFill/>
          </a:ln>
        </p:spPr>
      </p:pic>
      <p:sp>
        <p:nvSpPr>
          <p:cNvPr id="49" name="Text 16"/>
          <p:cNvSpPr/>
          <p:nvPr/>
        </p:nvSpPr>
        <p:spPr>
          <a:xfrm>
            <a:off x="1600200" y="5533920"/>
            <a:ext cx="963036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9d1d9"/>
                </a:solidFill>
                <a:latin typeface="Calibri"/>
                <a:ea typeface="Calibri"/>
              </a:rPr>
              <a:t>Por qué Linux es especialmente relevante para la ciberseguridad y la informática.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640080" y="384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1969 – 1980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640080" y="65844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0f6fc"/>
                </a:solidFill>
                <a:latin typeface="Arial"/>
                <a:ea typeface="Arial"/>
              </a:rPr>
              <a:t>Inicios de UNIX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1874520" y="1749960"/>
            <a:ext cx="2715480" cy="914400"/>
          </a:xfrm>
          <a:prstGeom prst="line">
            <a:avLst/>
          </a:prstGeom>
          <a:ln w="2857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 flipV="1">
            <a:off x="4590000" y="1749960"/>
            <a:ext cx="2715840" cy="914400"/>
          </a:xfrm>
          <a:prstGeom prst="line">
            <a:avLst/>
          </a:prstGeom>
          <a:ln w="2857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7305840" y="1749960"/>
            <a:ext cx="2715840" cy="914400"/>
          </a:xfrm>
          <a:prstGeom prst="line">
            <a:avLst/>
          </a:prstGeom>
          <a:ln w="2857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1645920" y="1521360"/>
            <a:ext cx="456120" cy="456120"/>
          </a:xfrm>
          <a:prstGeom prst="ellipse">
            <a:avLst/>
          </a:prstGeom>
          <a:solidFill>
            <a:srgbClr val="39d353"/>
          </a:solidFill>
          <a:ln w="25400">
            <a:solidFill>
              <a:srgbClr val="0b0f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1645920" y="15213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0f14"/>
                </a:solidFill>
                <a:latin typeface="Courier New"/>
                <a:ea typeface="Courier New"/>
              </a:rPr>
              <a:t>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4361760" y="2435760"/>
            <a:ext cx="456120" cy="456120"/>
          </a:xfrm>
          <a:prstGeom prst="ellipse">
            <a:avLst/>
          </a:prstGeom>
          <a:solidFill>
            <a:srgbClr val="39d353"/>
          </a:solidFill>
          <a:ln w="25400">
            <a:solidFill>
              <a:srgbClr val="0b0f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4361760" y="24357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0f14"/>
                </a:solidFill>
                <a:latin typeface="Courier New"/>
                <a:ea typeface="Courier New"/>
              </a:rPr>
              <a:t>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7077600" y="1521360"/>
            <a:ext cx="456120" cy="456120"/>
          </a:xfrm>
          <a:prstGeom prst="ellipse">
            <a:avLst/>
          </a:prstGeom>
          <a:solidFill>
            <a:srgbClr val="39d353"/>
          </a:solidFill>
          <a:ln w="25400">
            <a:solidFill>
              <a:srgbClr val="0b0f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7077600" y="15213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0f14"/>
                </a:solidFill>
                <a:latin typeface="Courier New"/>
                <a:ea typeface="Courier New"/>
              </a:rPr>
              <a:t>3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9793080" y="2435760"/>
            <a:ext cx="456120" cy="456120"/>
          </a:xfrm>
          <a:prstGeom prst="ellipse">
            <a:avLst/>
          </a:prstGeom>
          <a:solidFill>
            <a:srgbClr val="39d353"/>
          </a:solidFill>
          <a:ln w="25400">
            <a:solidFill>
              <a:srgbClr val="0b0f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9793080" y="24357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b0f14"/>
                </a:solidFill>
                <a:latin typeface="Courier New"/>
                <a:ea typeface="Courier New"/>
              </a:rPr>
              <a:t>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708840" y="317988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a83e"/>
                </a:solidFill>
                <a:latin typeface="Courier New"/>
                <a:ea typeface="Courier New"/>
              </a:rPr>
              <a:t>1969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708840" y="3472560"/>
            <a:ext cx="2330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Arial"/>
                <a:ea typeface="Arial"/>
              </a:rPr>
              <a:t>Nace UNIX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708840" y="4020480"/>
            <a:ext cx="23306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1d9"/>
                </a:solidFill>
                <a:latin typeface="Calibri"/>
                <a:ea typeface="Calibri"/>
              </a:rPr>
              <a:t>Ken Thompson inicia UNIX en Bell Labs para la PDP-7. Luego se suman Dennis Ritchie y otros investigadores. Meta: un sistema pequeño y portable.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3424320" y="317988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a83e"/>
                </a:solidFill>
                <a:latin typeface="Courier New"/>
                <a:ea typeface="Courier New"/>
              </a:rPr>
              <a:t>1972–1973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3424320" y="3472560"/>
            <a:ext cx="2330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Arial"/>
                <a:ea typeface="Arial"/>
              </a:rPr>
              <a:t>UNIX y 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3424320" y="4020480"/>
            <a:ext cx="23306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1d9"/>
                </a:solidFill>
                <a:latin typeface="Calibri"/>
                <a:ea typeface="Calibri"/>
              </a:rPr>
              <a:t>Dennis Ritchie crea el lenguaje C. En 1973 UNIX se reescribe en C, lo que facilita su adaptación a distintas arquitecturas.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6140160" y="317988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a83e"/>
                </a:solidFill>
                <a:latin typeface="Courier New"/>
                <a:ea typeface="Courier New"/>
              </a:rPr>
              <a:t>1974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6140160" y="3472560"/>
            <a:ext cx="2330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Arial"/>
                <a:ea typeface="Arial"/>
              </a:rPr>
              <a:t>Llega a las universidades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6140160" y="4020480"/>
            <a:ext cx="23306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1d9"/>
                </a:solidFill>
                <a:latin typeface="Calibri"/>
                <a:ea typeface="Calibri"/>
              </a:rPr>
              <a:t>UNIX se distribuye fuera de Bell Labs, sobre todo en entornos académicos, donde adquiere gran influencia.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8"/>
          <p:cNvSpPr/>
          <p:nvPr/>
        </p:nvSpPr>
        <p:spPr>
          <a:xfrm>
            <a:off x="8856000" y="317988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a83e"/>
                </a:solidFill>
                <a:latin typeface="Courier New"/>
                <a:ea typeface="Courier New"/>
              </a:rPr>
              <a:t>Años 80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9"/>
          <p:cNvSpPr/>
          <p:nvPr/>
        </p:nvSpPr>
        <p:spPr>
          <a:xfrm>
            <a:off x="8856000" y="3472560"/>
            <a:ext cx="2330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f6fc"/>
                </a:solidFill>
                <a:latin typeface="Arial"/>
                <a:ea typeface="Arial"/>
              </a:rPr>
              <a:t>Restricciones y alternativas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0"/>
          <p:cNvSpPr/>
          <p:nvPr/>
        </p:nvSpPr>
        <p:spPr>
          <a:xfrm>
            <a:off x="8856000" y="4020480"/>
            <a:ext cx="23306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1d9"/>
                </a:solidFill>
                <a:latin typeface="Calibri"/>
                <a:ea typeface="Calibri"/>
              </a:rPr>
              <a:t>Las licencias de AT&amp;T dificultan el uso educativo del código, lo que impulsa alternativas Unix-like como BSD y MINIX.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rcRect l="536" t="8800" r="1859" b="36797"/>
          <a:stretch/>
        </p:blipFill>
        <p:spPr>
          <a:xfrm>
            <a:off x="1164600" y="4979160"/>
            <a:ext cx="3509280" cy="146664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4184640" y="4745160"/>
            <a:ext cx="1041480" cy="115236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3"/>
          <a:srcRect l="0" t="0" r="17276" b="0"/>
          <a:stretch/>
        </p:blipFill>
        <p:spPr>
          <a:xfrm>
            <a:off x="7502760" y="4811400"/>
            <a:ext cx="2493360" cy="166500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4"/>
          <a:stretch/>
        </p:blipFill>
        <p:spPr>
          <a:xfrm>
            <a:off x="9852840" y="5348160"/>
            <a:ext cx="1224360" cy="120816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5"/>
          <a:srcRect l="12703" t="12406" r="13669" b="9498"/>
          <a:stretch/>
        </p:blipFill>
        <p:spPr>
          <a:xfrm>
            <a:off x="5755680" y="4914360"/>
            <a:ext cx="1203840" cy="146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40080" y="384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SOFTWARE LIBRE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640080" y="65844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0f6fc"/>
                </a:solidFill>
                <a:latin typeface="Arial"/>
                <a:ea typeface="Arial"/>
              </a:rPr>
              <a:t>Inicios del software libre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640080" y="1417320"/>
            <a:ext cx="5256720" cy="5028120"/>
          </a:xfrm>
          <a:prstGeom prst="roundRect">
            <a:avLst>
              <a:gd name="adj" fmla="val 1818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905400" y="1682640"/>
            <a:ext cx="602280" cy="602280"/>
          </a:xfrm>
          <a:prstGeom prst="ellipse">
            <a:avLst/>
          </a:prstGeom>
          <a:solidFill>
            <a:srgbClr val="f0a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1068120" y="1845360"/>
            <a:ext cx="276480" cy="276480"/>
          </a:xfrm>
          <a:prstGeom prst="rect">
            <a:avLst/>
          </a:prstGeom>
          <a:ln w="0">
            <a:noFill/>
          </a:ln>
        </p:spPr>
      </p:pic>
      <p:sp>
        <p:nvSpPr>
          <p:cNvPr id="85" name="Text 4"/>
          <p:cNvSpPr/>
          <p:nvPr/>
        </p:nvSpPr>
        <p:spPr>
          <a:xfrm>
            <a:off x="1600200" y="1636920"/>
            <a:ext cx="39765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0a83e"/>
                </a:solidFill>
                <a:latin typeface="Courier New"/>
                <a:ea typeface="Courier New"/>
              </a:rPr>
              <a:t>1983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60120" y="2396880"/>
            <a:ext cx="4616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0f6fc"/>
                </a:solidFill>
                <a:latin typeface="Arial"/>
                <a:ea typeface="Arial"/>
              </a:rPr>
              <a:t>Nace GNU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60120" y="2945520"/>
            <a:ext cx="46166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9d1d9"/>
                </a:solidFill>
                <a:latin typeface="Calibri"/>
                <a:ea typeface="Calibri"/>
              </a:rPr>
              <a:t>Richard Stallman anuncia GNU (GNU's Not Unix): un sistema compatible con UNIX compuesto íntegramente por software libre.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1356120" y="3555360"/>
            <a:ext cx="1370520" cy="383040"/>
          </a:xfrm>
          <a:prstGeom prst="roundRect">
            <a:avLst>
              <a:gd name="adj" fmla="val 33333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1356120" y="3555360"/>
            <a:ext cx="1370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9d353"/>
                </a:solidFill>
                <a:latin typeface="Courier New"/>
                <a:ea typeface="Courier New"/>
              </a:rPr>
              <a:t>Compiladores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2855880" y="3555360"/>
            <a:ext cx="1233360" cy="383040"/>
          </a:xfrm>
          <a:prstGeom prst="roundRect">
            <a:avLst>
              <a:gd name="adj" fmla="val 33333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2855880" y="3555360"/>
            <a:ext cx="12333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9d353"/>
                </a:solidFill>
                <a:latin typeface="Courier New"/>
                <a:ea typeface="Courier New"/>
              </a:rPr>
              <a:t>Bibliotecas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4218120" y="3555360"/>
            <a:ext cx="913320" cy="383040"/>
          </a:xfrm>
          <a:prstGeom prst="roundRect">
            <a:avLst>
              <a:gd name="adj" fmla="val 33333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4218120" y="3555360"/>
            <a:ext cx="9133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9d353"/>
                </a:solidFill>
                <a:latin typeface="Courier New"/>
                <a:ea typeface="Courier New"/>
              </a:rPr>
              <a:t>Shells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3"/>
          <p:cNvSpPr/>
          <p:nvPr/>
        </p:nvSpPr>
        <p:spPr>
          <a:xfrm>
            <a:off x="1680120" y="4067280"/>
            <a:ext cx="1141920" cy="383040"/>
          </a:xfrm>
          <a:prstGeom prst="roundRect">
            <a:avLst>
              <a:gd name="adj" fmla="val 33333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1680120" y="4067280"/>
            <a:ext cx="1141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9d353"/>
                </a:solidFill>
                <a:latin typeface="Courier New"/>
                <a:ea typeface="Courier New"/>
              </a:rPr>
              <a:t>Utilidades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5"/>
          <p:cNvSpPr/>
          <p:nvPr/>
        </p:nvSpPr>
        <p:spPr>
          <a:xfrm>
            <a:off x="2951280" y="4067280"/>
            <a:ext cx="1873440" cy="383040"/>
          </a:xfrm>
          <a:prstGeom prst="roundRect">
            <a:avLst>
              <a:gd name="adj" fmla="val 33333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2951280" y="4067280"/>
            <a:ext cx="18734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9d353"/>
                </a:solidFill>
                <a:latin typeface="Courier New"/>
                <a:ea typeface="Courier New"/>
              </a:rPr>
              <a:t>Herr. de desarrollo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6172200" y="1417320"/>
            <a:ext cx="5378400" cy="2376360"/>
          </a:xfrm>
          <a:prstGeom prst="roundRect">
            <a:avLst>
              <a:gd name="adj" fmla="val 3846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6391800" y="1636920"/>
            <a:ext cx="474480" cy="47448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2" descr="preencoded.png"/>
          <p:cNvPicPr/>
          <p:nvPr/>
        </p:nvPicPr>
        <p:blipFill>
          <a:blip r:embed="rId2"/>
          <a:stretch/>
        </p:blipFill>
        <p:spPr>
          <a:xfrm>
            <a:off x="6519960" y="1765080"/>
            <a:ext cx="217800" cy="217800"/>
          </a:xfrm>
          <a:prstGeom prst="rect">
            <a:avLst/>
          </a:prstGeom>
          <a:ln w="0">
            <a:noFill/>
          </a:ln>
        </p:spPr>
      </p:pic>
      <p:sp>
        <p:nvSpPr>
          <p:cNvPr id="101" name="Text 21"/>
          <p:cNvSpPr/>
          <p:nvPr/>
        </p:nvSpPr>
        <p:spPr>
          <a:xfrm>
            <a:off x="6995160" y="1545480"/>
            <a:ext cx="1370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0a83e"/>
                </a:solidFill>
                <a:latin typeface="Courier New"/>
                <a:ea typeface="Courier New"/>
              </a:rPr>
              <a:t>1985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6995160" y="1874520"/>
            <a:ext cx="4281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0f6fc"/>
                </a:solidFill>
                <a:latin typeface="Arial"/>
                <a:ea typeface="Arial"/>
              </a:rPr>
              <a:t>Fundación de la FSF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3"/>
          <p:cNvSpPr/>
          <p:nvPr/>
        </p:nvSpPr>
        <p:spPr>
          <a:xfrm>
            <a:off x="6446520" y="2313360"/>
            <a:ext cx="48297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c9d1d9"/>
                </a:solidFill>
                <a:latin typeface="Calibri"/>
                <a:ea typeface="Calibri"/>
              </a:rPr>
              <a:t>Se crea la Free Software Foundation, organización dedicada a promover el software libre y apoyar el desarrollo de GNU.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26"/>
          <p:cNvSpPr/>
          <p:nvPr/>
        </p:nvSpPr>
        <p:spPr>
          <a:xfrm>
            <a:off x="6172200" y="4069080"/>
            <a:ext cx="5378400" cy="2376360"/>
          </a:xfrm>
          <a:prstGeom prst="roundRect">
            <a:avLst>
              <a:gd name="adj" fmla="val 3846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27"/>
          <p:cNvSpPr/>
          <p:nvPr/>
        </p:nvSpPr>
        <p:spPr>
          <a:xfrm>
            <a:off x="6391800" y="4288680"/>
            <a:ext cx="474480" cy="47448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4" descr="preencoded.png"/>
          <p:cNvPicPr/>
          <p:nvPr/>
        </p:nvPicPr>
        <p:blipFill>
          <a:blip r:embed="rId3"/>
          <a:stretch/>
        </p:blipFill>
        <p:spPr>
          <a:xfrm>
            <a:off x="6519960" y="4416840"/>
            <a:ext cx="217800" cy="217800"/>
          </a:xfrm>
          <a:prstGeom prst="rect">
            <a:avLst/>
          </a:prstGeom>
          <a:ln w="0">
            <a:noFill/>
          </a:ln>
        </p:spPr>
      </p:pic>
      <p:sp>
        <p:nvSpPr>
          <p:cNvPr id="107" name="Text 28"/>
          <p:cNvSpPr/>
          <p:nvPr/>
        </p:nvSpPr>
        <p:spPr>
          <a:xfrm>
            <a:off x="6995160" y="4197240"/>
            <a:ext cx="1370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0a83e"/>
                </a:solidFill>
                <a:latin typeface="Courier New"/>
                <a:ea typeface="Courier New"/>
              </a:rPr>
              <a:t>1989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6995160" y="4526280"/>
            <a:ext cx="4281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0f6fc"/>
                </a:solidFill>
                <a:latin typeface="Arial"/>
                <a:ea typeface="Arial"/>
              </a:rPr>
              <a:t>Primera GPL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0"/>
          <p:cNvSpPr/>
          <p:nvPr/>
        </p:nvSpPr>
        <p:spPr>
          <a:xfrm>
            <a:off x="6446520" y="4965120"/>
            <a:ext cx="48297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c9d1d9"/>
                </a:solidFill>
                <a:latin typeface="Calibri"/>
                <a:ea typeface="Calibri"/>
              </a:rPr>
              <a:t>Se publica la primera GNU General Public License: un mecanismo legal para garantizar las libertades de uso, modificación y redistribución.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4"/>
          <a:stretch/>
        </p:blipFill>
        <p:spPr>
          <a:xfrm>
            <a:off x="2181240" y="4746600"/>
            <a:ext cx="2180160" cy="142272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5"/>
          <a:srcRect l="0" t="29601" r="0" b="32358"/>
          <a:stretch/>
        </p:blipFill>
        <p:spPr>
          <a:xfrm>
            <a:off x="7280640" y="2838960"/>
            <a:ext cx="3204720" cy="72972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6"/>
          <a:stretch/>
        </p:blipFill>
        <p:spPr>
          <a:xfrm>
            <a:off x="7938720" y="5440680"/>
            <a:ext cx="1805760" cy="78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640080" y="384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LEGADO DE GNU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640080" y="65844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0f6fc"/>
                </a:solidFill>
                <a:latin typeface="Arial"/>
                <a:ea typeface="Arial"/>
              </a:rPr>
              <a:t>¿Qué dejó GNU?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640080" y="1417320"/>
            <a:ext cx="7314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9d353"/>
                </a:solidFill>
                <a:latin typeface="Arial"/>
                <a:ea typeface="Arial"/>
              </a:rPr>
              <a:t>¿Seguimos utilizando GNU?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2589120" y="2045520"/>
            <a:ext cx="840240" cy="840240"/>
          </a:xfrm>
          <a:prstGeom prst="ellipse">
            <a:avLst/>
          </a:prstGeom>
          <a:solidFill>
            <a:srgbClr val="1b242c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2816280" y="2272680"/>
            <a:ext cx="385920" cy="385920"/>
          </a:xfrm>
          <a:prstGeom prst="rect">
            <a:avLst/>
          </a:prstGeom>
          <a:ln w="0">
            <a:noFill/>
          </a:ln>
        </p:spPr>
      </p:pic>
      <p:sp>
        <p:nvSpPr>
          <p:cNvPr id="118" name="Text 4"/>
          <p:cNvSpPr/>
          <p:nvPr/>
        </p:nvSpPr>
        <p:spPr>
          <a:xfrm>
            <a:off x="2140920" y="2923200"/>
            <a:ext cx="17362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ourier New"/>
                <a:ea typeface="Courier New"/>
              </a:rPr>
              <a:t>GCC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4646520" y="2045520"/>
            <a:ext cx="840240" cy="840240"/>
          </a:xfrm>
          <a:prstGeom prst="ellipse">
            <a:avLst/>
          </a:prstGeom>
          <a:solidFill>
            <a:srgbClr val="1b242c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Image 1" descr="preencoded.png"/>
          <p:cNvPicPr/>
          <p:nvPr/>
        </p:nvPicPr>
        <p:blipFill>
          <a:blip r:embed="rId2"/>
          <a:stretch/>
        </p:blipFill>
        <p:spPr>
          <a:xfrm>
            <a:off x="4873680" y="2272680"/>
            <a:ext cx="385920" cy="385920"/>
          </a:xfrm>
          <a:prstGeom prst="rect">
            <a:avLst/>
          </a:prstGeom>
          <a:ln w="0">
            <a:noFill/>
          </a:ln>
        </p:spPr>
      </p:pic>
      <p:sp>
        <p:nvSpPr>
          <p:cNvPr id="121" name="Text 6"/>
          <p:cNvSpPr/>
          <p:nvPr/>
        </p:nvSpPr>
        <p:spPr>
          <a:xfrm>
            <a:off x="4198320" y="2923200"/>
            <a:ext cx="17362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ourier New"/>
                <a:ea typeface="Courier New"/>
              </a:rPr>
              <a:t>Bash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6703920" y="2045520"/>
            <a:ext cx="840240" cy="840240"/>
          </a:xfrm>
          <a:prstGeom prst="ellipse">
            <a:avLst/>
          </a:prstGeom>
          <a:solidFill>
            <a:srgbClr val="1b242c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3"/>
          <a:stretch/>
        </p:blipFill>
        <p:spPr>
          <a:xfrm>
            <a:off x="6931080" y="2272680"/>
            <a:ext cx="385920" cy="385920"/>
          </a:xfrm>
          <a:prstGeom prst="rect">
            <a:avLst/>
          </a:prstGeom>
          <a:ln w="0">
            <a:noFill/>
          </a:ln>
        </p:spPr>
      </p:pic>
      <p:sp>
        <p:nvSpPr>
          <p:cNvPr id="124" name="Text 8"/>
          <p:cNvSpPr/>
          <p:nvPr/>
        </p:nvSpPr>
        <p:spPr>
          <a:xfrm>
            <a:off x="6255720" y="2923200"/>
            <a:ext cx="17362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ourier New"/>
                <a:ea typeface="Courier New"/>
              </a:rPr>
              <a:t>Coreutils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8761320" y="2045520"/>
            <a:ext cx="840240" cy="840240"/>
          </a:xfrm>
          <a:prstGeom prst="ellipse">
            <a:avLst/>
          </a:prstGeom>
          <a:solidFill>
            <a:srgbClr val="1b242c"/>
          </a:solidFill>
          <a:ln w="1905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Image 3" descr="preencoded.png"/>
          <p:cNvPicPr/>
          <p:nvPr/>
        </p:nvPicPr>
        <p:blipFill>
          <a:blip r:embed="rId4"/>
          <a:stretch/>
        </p:blipFill>
        <p:spPr>
          <a:xfrm>
            <a:off x="8988480" y="2272680"/>
            <a:ext cx="385920" cy="385920"/>
          </a:xfrm>
          <a:prstGeom prst="rect">
            <a:avLst/>
          </a:prstGeom>
          <a:ln w="0">
            <a:noFill/>
          </a:ln>
        </p:spPr>
      </p:pic>
      <p:sp>
        <p:nvSpPr>
          <p:cNvPr id="127" name="Text 10"/>
          <p:cNvSpPr/>
          <p:nvPr/>
        </p:nvSpPr>
        <p:spPr>
          <a:xfrm>
            <a:off x="8313120" y="2923200"/>
            <a:ext cx="17362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f6fc"/>
                </a:solidFill>
                <a:latin typeface="Courier New"/>
                <a:ea typeface="Courier New"/>
              </a:rPr>
              <a:t>GDB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640080" y="33649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9d353"/>
                </a:solidFill>
                <a:latin typeface="Arial"/>
                <a:ea typeface="Arial"/>
              </a:rPr>
              <a:t>¿Qué permite realmente la GPL?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640080" y="3749040"/>
            <a:ext cx="10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8b949e"/>
                </a:solidFill>
                <a:latin typeface="Calibri"/>
                <a:ea typeface="Calibri"/>
              </a:rPr>
              <a:t>La GPL protege las libertades del usuario mediante copyleft.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640080" y="4187880"/>
            <a:ext cx="5271840" cy="2147760"/>
          </a:xfrm>
          <a:prstGeom prst="roundRect">
            <a:avLst>
              <a:gd name="adj" fmla="val 4255"/>
            </a:avLst>
          </a:prstGeom>
          <a:solidFill>
            <a:srgbClr val="141b22"/>
          </a:solidFill>
          <a:ln w="15875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859680" y="4407480"/>
            <a:ext cx="474480" cy="47448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4" descr="preencoded.png"/>
          <p:cNvPicPr/>
          <p:nvPr/>
        </p:nvPicPr>
        <p:blipFill>
          <a:blip r:embed="rId5"/>
          <a:stretch/>
        </p:blipFill>
        <p:spPr>
          <a:xfrm>
            <a:off x="987840" y="4535640"/>
            <a:ext cx="217800" cy="217800"/>
          </a:xfrm>
          <a:prstGeom prst="rect">
            <a:avLst/>
          </a:prstGeom>
          <a:ln w="0">
            <a:noFill/>
          </a:ln>
        </p:spPr>
      </p:pic>
      <p:sp>
        <p:nvSpPr>
          <p:cNvPr id="133" name="Text 15"/>
          <p:cNvSpPr/>
          <p:nvPr/>
        </p:nvSpPr>
        <p:spPr>
          <a:xfrm>
            <a:off x="1463040" y="4416480"/>
            <a:ext cx="4174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9d353"/>
                </a:solidFill>
                <a:latin typeface="Arial"/>
                <a:ea typeface="Arial"/>
              </a:rPr>
              <a:t>PUEDES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914400" y="5010840"/>
            <a:ext cx="472320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  <a:ea typeface="Calibri"/>
              </a:rPr>
              <a:t>Usar el software libremente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  <a:ea typeface="Calibri"/>
              </a:rPr>
              <a:t>Estudiar su código fuente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  <a:ea typeface="Calibri"/>
              </a:rPr>
              <a:t>Modificarlo según tus necesidades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  <a:ea typeface="Calibri"/>
              </a:rPr>
              <a:t>Redistribuirlo, con o sin cambios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7"/>
          <p:cNvSpPr/>
          <p:nvPr/>
        </p:nvSpPr>
        <p:spPr>
          <a:xfrm>
            <a:off x="6278760" y="4187880"/>
            <a:ext cx="5271840" cy="2147760"/>
          </a:xfrm>
          <a:prstGeom prst="roundRect">
            <a:avLst>
              <a:gd name="adj" fmla="val 4255"/>
            </a:avLst>
          </a:prstGeom>
          <a:solidFill>
            <a:srgbClr val="141b22"/>
          </a:solidFill>
          <a:ln w="15875">
            <a:solidFill>
              <a:srgbClr val="f0a8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6498360" y="4407480"/>
            <a:ext cx="474480" cy="474480"/>
          </a:xfrm>
          <a:prstGeom prst="ellipse">
            <a:avLst/>
          </a:prstGeom>
          <a:solidFill>
            <a:srgbClr val="f0a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Image 5" descr="preencoded.png"/>
          <p:cNvPicPr/>
          <p:nvPr/>
        </p:nvPicPr>
        <p:blipFill>
          <a:blip r:embed="rId6"/>
          <a:stretch/>
        </p:blipFill>
        <p:spPr>
          <a:xfrm>
            <a:off x="6626520" y="4535640"/>
            <a:ext cx="217800" cy="217800"/>
          </a:xfrm>
          <a:prstGeom prst="rect">
            <a:avLst/>
          </a:prstGeom>
          <a:ln w="0">
            <a:noFill/>
          </a:ln>
        </p:spPr>
      </p:pic>
      <p:sp>
        <p:nvSpPr>
          <p:cNvPr id="138" name="Text 19"/>
          <p:cNvSpPr/>
          <p:nvPr/>
        </p:nvSpPr>
        <p:spPr>
          <a:xfrm>
            <a:off x="7101720" y="4416480"/>
            <a:ext cx="4174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0a83e"/>
                </a:solidFill>
                <a:latin typeface="Arial"/>
                <a:ea typeface="Arial"/>
              </a:rPr>
              <a:t>PERO…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6553080" y="5056560"/>
            <a:ext cx="47232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9d1d9"/>
                </a:solidFill>
                <a:latin typeface="Calibri"/>
                <a:ea typeface="Calibri"/>
              </a:rPr>
              <a:t>Si redistribuyes una obra derivada bajo GPL, debes mantener las libertades correspondientes de la GPL para quien la reciba.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31"/>
          <p:cNvSpPr/>
          <p:nvPr/>
        </p:nvSpPr>
        <p:spPr>
          <a:xfrm>
            <a:off x="640080" y="384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1991 — 1992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3"/>
          <p:cNvSpPr/>
          <p:nvPr/>
        </p:nvSpPr>
        <p:spPr>
          <a:xfrm>
            <a:off x="640080" y="65844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0f6fc"/>
                </a:solidFill>
                <a:latin typeface="Arial"/>
                <a:ea typeface="Arial"/>
              </a:rPr>
              <a:t>Inicios de Linux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"/>
          <p:cNvSpPr/>
          <p:nvPr/>
        </p:nvSpPr>
        <p:spPr>
          <a:xfrm>
            <a:off x="6293880" y="1417320"/>
            <a:ext cx="5256720" cy="5028120"/>
          </a:xfrm>
          <a:prstGeom prst="roundRect">
            <a:avLst>
              <a:gd name="adj" fmla="val 1818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24"/>
          <p:cNvSpPr/>
          <p:nvPr/>
        </p:nvSpPr>
        <p:spPr>
          <a:xfrm>
            <a:off x="6558840" y="1682640"/>
            <a:ext cx="602280" cy="602280"/>
          </a:xfrm>
          <a:prstGeom prst="ellipse">
            <a:avLst/>
          </a:prstGeom>
          <a:solidFill>
            <a:srgbClr val="f0a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15" descr="preencoded.png"/>
          <p:cNvPicPr/>
          <p:nvPr/>
        </p:nvPicPr>
        <p:blipFill>
          <a:blip r:embed="rId1"/>
          <a:stretch/>
        </p:blipFill>
        <p:spPr>
          <a:xfrm>
            <a:off x="6721920" y="1845360"/>
            <a:ext cx="276480" cy="276480"/>
          </a:xfrm>
          <a:prstGeom prst="rect">
            <a:avLst/>
          </a:prstGeom>
          <a:ln w="0">
            <a:noFill/>
          </a:ln>
        </p:spPr>
      </p:pic>
      <p:sp>
        <p:nvSpPr>
          <p:cNvPr id="145" name="Text 35"/>
          <p:cNvSpPr/>
          <p:nvPr/>
        </p:nvSpPr>
        <p:spPr>
          <a:xfrm>
            <a:off x="7254000" y="1636920"/>
            <a:ext cx="39765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0a83e"/>
                </a:solidFill>
                <a:latin typeface="Courier New"/>
                <a:ea typeface="Courier New"/>
              </a:rPr>
              <a:t>1991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7"/>
          <p:cNvSpPr/>
          <p:nvPr/>
        </p:nvSpPr>
        <p:spPr>
          <a:xfrm>
            <a:off x="6613920" y="2468880"/>
            <a:ext cx="4616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0f6fc"/>
                </a:solidFill>
                <a:latin typeface="Arial"/>
                <a:ea typeface="Arial"/>
              </a:rPr>
              <a:t>Linus Torvalds comienza Linux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39"/>
          <p:cNvSpPr/>
          <p:nvPr/>
        </p:nvSpPr>
        <p:spPr>
          <a:xfrm>
            <a:off x="6613920" y="3291840"/>
            <a:ext cx="46166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9d1d9"/>
                </a:solidFill>
                <a:latin typeface="Calibri"/>
                <a:ea typeface="Calibri"/>
              </a:rPr>
              <a:t>Linus Torvalds, estudiante de la Universidad de Helsinki, comienza a desarrollar un kernel para sistemas basados en Intel 386.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30"/>
          <p:cNvSpPr/>
          <p:nvPr/>
        </p:nvSpPr>
        <p:spPr>
          <a:xfrm>
            <a:off x="640080" y="1417320"/>
            <a:ext cx="5378400" cy="2376360"/>
          </a:xfrm>
          <a:prstGeom prst="roundRect">
            <a:avLst>
              <a:gd name="adj" fmla="val 3846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32"/>
          <p:cNvSpPr/>
          <p:nvPr/>
        </p:nvSpPr>
        <p:spPr>
          <a:xfrm>
            <a:off x="859680" y="1636920"/>
            <a:ext cx="474480" cy="47448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17" descr="preencoded.png"/>
          <p:cNvPicPr/>
          <p:nvPr/>
        </p:nvPicPr>
        <p:blipFill>
          <a:blip r:embed="rId2"/>
          <a:stretch/>
        </p:blipFill>
        <p:spPr>
          <a:xfrm>
            <a:off x="987840" y="1765080"/>
            <a:ext cx="217800" cy="217800"/>
          </a:xfrm>
          <a:prstGeom prst="rect">
            <a:avLst/>
          </a:prstGeom>
          <a:ln w="0">
            <a:noFill/>
          </a:ln>
        </p:spPr>
      </p:pic>
      <p:sp>
        <p:nvSpPr>
          <p:cNvPr id="151" name="Text 41"/>
          <p:cNvSpPr/>
          <p:nvPr/>
        </p:nvSpPr>
        <p:spPr>
          <a:xfrm>
            <a:off x="1463040" y="1545480"/>
            <a:ext cx="1370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0a83e"/>
                </a:solidFill>
                <a:latin typeface="Courier New"/>
                <a:ea typeface="Courier New"/>
              </a:rPr>
              <a:t>1991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2"/>
          <p:cNvSpPr/>
          <p:nvPr/>
        </p:nvSpPr>
        <p:spPr>
          <a:xfrm>
            <a:off x="1463040" y="1874520"/>
            <a:ext cx="4281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0f6fc"/>
                </a:solidFill>
                <a:latin typeface="Arial"/>
                <a:ea typeface="Arial"/>
              </a:rPr>
              <a:t>Primera versión pública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3"/>
          <p:cNvSpPr/>
          <p:nvPr/>
        </p:nvSpPr>
        <p:spPr>
          <a:xfrm>
            <a:off x="914400" y="2313360"/>
            <a:ext cx="48297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c9d1d9"/>
                </a:solidFill>
                <a:latin typeface="Calibri"/>
                <a:ea typeface="Calibri"/>
              </a:rPr>
              <a:t>Torvalds publica Linux en Internet y permite que otros desarrolladores experimenten y contribuyan. Todavía no era un sistema operativo completo.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640080" y="4069080"/>
            <a:ext cx="5378400" cy="2376360"/>
          </a:xfrm>
          <a:prstGeom prst="roundRect">
            <a:avLst>
              <a:gd name="adj" fmla="val 3846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36"/>
          <p:cNvSpPr/>
          <p:nvPr/>
        </p:nvSpPr>
        <p:spPr>
          <a:xfrm>
            <a:off x="859680" y="4288680"/>
            <a:ext cx="474480" cy="47448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" name="Image 18" descr="preencoded.png"/>
          <p:cNvPicPr/>
          <p:nvPr/>
        </p:nvPicPr>
        <p:blipFill>
          <a:blip r:embed="rId3"/>
          <a:stretch/>
        </p:blipFill>
        <p:spPr>
          <a:xfrm>
            <a:off x="987840" y="4416840"/>
            <a:ext cx="217800" cy="217800"/>
          </a:xfrm>
          <a:prstGeom prst="rect">
            <a:avLst/>
          </a:prstGeom>
          <a:ln w="0">
            <a:noFill/>
          </a:ln>
        </p:spPr>
      </p:pic>
      <p:sp>
        <p:nvSpPr>
          <p:cNvPr id="157" name="Text 44"/>
          <p:cNvSpPr/>
          <p:nvPr/>
        </p:nvSpPr>
        <p:spPr>
          <a:xfrm>
            <a:off x="1463040" y="4197240"/>
            <a:ext cx="1370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0a83e"/>
                </a:solidFill>
                <a:latin typeface="Courier New"/>
                <a:ea typeface="Courier New"/>
              </a:rPr>
              <a:t>1992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45"/>
          <p:cNvSpPr/>
          <p:nvPr/>
        </p:nvSpPr>
        <p:spPr>
          <a:xfrm>
            <a:off x="1463040" y="4526280"/>
            <a:ext cx="4281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0f6fc"/>
                </a:solidFill>
                <a:latin typeface="Arial"/>
                <a:ea typeface="Arial"/>
              </a:rPr>
              <a:t>Linux adopta la GPL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46"/>
          <p:cNvSpPr/>
          <p:nvPr/>
        </p:nvSpPr>
        <p:spPr>
          <a:xfrm>
            <a:off x="914400" y="4965120"/>
            <a:ext cx="48297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c9d1d9"/>
                </a:solidFill>
                <a:latin typeface="Calibri"/>
                <a:ea typeface="Calibri"/>
              </a:rPr>
              <a:t>Linux pasa a distribuirse bajo la GNU GPLv2, favoreciendo su modificación, redistribución y desarrollo colaborativo.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4"/>
          <a:stretch/>
        </p:blipFill>
        <p:spPr>
          <a:xfrm>
            <a:off x="2454120" y="5474160"/>
            <a:ext cx="1766880" cy="75312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5"/>
          <a:stretch/>
        </p:blipFill>
        <p:spPr>
          <a:xfrm>
            <a:off x="7014240" y="3970800"/>
            <a:ext cx="3831120" cy="215100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6"/>
          <a:stretch/>
        </p:blipFill>
        <p:spPr>
          <a:xfrm>
            <a:off x="2273760" y="2814480"/>
            <a:ext cx="2116080" cy="77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640080" y="384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PRECISIONES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640080" y="65844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0f6fc"/>
                </a:solidFill>
                <a:latin typeface="Arial"/>
                <a:ea typeface="Arial"/>
              </a:rPr>
              <a:t>Linux no es UNIX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640080" y="1417320"/>
            <a:ext cx="10910520" cy="1416240"/>
          </a:xfrm>
          <a:prstGeom prst="roundRect">
            <a:avLst>
              <a:gd name="adj" fmla="val 6452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905400" y="1824120"/>
            <a:ext cx="602280" cy="60228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7" name="Image 0" descr="preencoded.png"/>
          <p:cNvPicPr/>
          <p:nvPr/>
        </p:nvPicPr>
        <p:blipFill>
          <a:blip r:embed="rId1"/>
          <a:stretch/>
        </p:blipFill>
        <p:spPr>
          <a:xfrm>
            <a:off x="1068120" y="1987200"/>
            <a:ext cx="276480" cy="276480"/>
          </a:xfrm>
          <a:prstGeom prst="rect">
            <a:avLst/>
          </a:prstGeom>
          <a:ln w="0">
            <a:noFill/>
          </a:ln>
        </p:spPr>
      </p:pic>
      <p:sp>
        <p:nvSpPr>
          <p:cNvPr id="168" name="Text 4"/>
          <p:cNvSpPr/>
          <p:nvPr/>
        </p:nvSpPr>
        <p:spPr>
          <a:xfrm>
            <a:off x="1645920" y="1545480"/>
            <a:ext cx="2970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f6fc"/>
                </a:solidFill>
                <a:latin typeface="Arial"/>
                <a:ea typeface="Arial"/>
              </a:rPr>
              <a:t>1. Linux es un kernel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645920" y="1874520"/>
            <a:ext cx="29707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  <a:ea typeface="Calibri"/>
              </a:rPr>
              <a:t>Administra los recursos fundamentales del sistema: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4983480" y="1581840"/>
            <a:ext cx="1919160" cy="474480"/>
          </a:xfrm>
          <a:prstGeom prst="roundRect">
            <a:avLst>
              <a:gd name="adj" fmla="val 30769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1" name="Image 1" descr="preencoded.png"/>
          <p:cNvPicPr/>
          <p:nvPr/>
        </p:nvPicPr>
        <p:blipFill>
          <a:blip r:embed="rId2"/>
          <a:stretch/>
        </p:blipFill>
        <p:spPr>
          <a:xfrm>
            <a:off x="5111640" y="167328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72" name="Text 7"/>
          <p:cNvSpPr/>
          <p:nvPr/>
        </p:nvSpPr>
        <p:spPr>
          <a:xfrm>
            <a:off x="5495400" y="1581840"/>
            <a:ext cx="1315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9d1d9"/>
                </a:solidFill>
                <a:latin typeface="Courier New"/>
                <a:ea typeface="Courier New"/>
              </a:rPr>
              <a:t>CPU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7022520" y="1581840"/>
            <a:ext cx="1919160" cy="474480"/>
          </a:xfrm>
          <a:prstGeom prst="roundRect">
            <a:avLst>
              <a:gd name="adj" fmla="val 30769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4" name="Image 2" descr="preencoded.png"/>
          <p:cNvPicPr/>
          <p:nvPr/>
        </p:nvPicPr>
        <p:blipFill>
          <a:blip r:embed="rId3"/>
          <a:stretch/>
        </p:blipFill>
        <p:spPr>
          <a:xfrm>
            <a:off x="7150680" y="167328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75" name="Text 9"/>
          <p:cNvSpPr/>
          <p:nvPr/>
        </p:nvSpPr>
        <p:spPr>
          <a:xfrm>
            <a:off x="7534800" y="1581840"/>
            <a:ext cx="1315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9d1d9"/>
                </a:solidFill>
                <a:latin typeface="Courier New"/>
                <a:ea typeface="Courier New"/>
              </a:rPr>
              <a:t>Memoria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9061560" y="1581840"/>
            <a:ext cx="1919160" cy="474480"/>
          </a:xfrm>
          <a:prstGeom prst="roundRect">
            <a:avLst>
              <a:gd name="adj" fmla="val 30769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3" descr="preencoded.png"/>
          <p:cNvPicPr/>
          <p:nvPr/>
        </p:nvPicPr>
        <p:blipFill>
          <a:blip r:embed="rId4"/>
          <a:stretch/>
        </p:blipFill>
        <p:spPr>
          <a:xfrm>
            <a:off x="9189720" y="167328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78" name="Text 11"/>
          <p:cNvSpPr/>
          <p:nvPr/>
        </p:nvSpPr>
        <p:spPr>
          <a:xfrm>
            <a:off x="9573840" y="1581840"/>
            <a:ext cx="1315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9d1d9"/>
                </a:solidFill>
                <a:latin typeface="Courier New"/>
                <a:ea typeface="Courier New"/>
              </a:rPr>
              <a:t>Procesos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2"/>
          <p:cNvSpPr/>
          <p:nvPr/>
        </p:nvSpPr>
        <p:spPr>
          <a:xfrm>
            <a:off x="4983480" y="2176200"/>
            <a:ext cx="1919160" cy="474480"/>
          </a:xfrm>
          <a:prstGeom prst="roundRect">
            <a:avLst>
              <a:gd name="adj" fmla="val 30769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" name="Image 4" descr="preencoded.png"/>
          <p:cNvPicPr/>
          <p:nvPr/>
        </p:nvPicPr>
        <p:blipFill>
          <a:blip r:embed="rId5"/>
          <a:stretch/>
        </p:blipFill>
        <p:spPr>
          <a:xfrm>
            <a:off x="5111640" y="22676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81" name="Text 13"/>
          <p:cNvSpPr/>
          <p:nvPr/>
        </p:nvSpPr>
        <p:spPr>
          <a:xfrm>
            <a:off x="5495400" y="2176200"/>
            <a:ext cx="1315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9d1d9"/>
                </a:solidFill>
                <a:latin typeface="Courier New"/>
                <a:ea typeface="Courier New"/>
              </a:rPr>
              <a:t>Dispositivos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7022520" y="2176200"/>
            <a:ext cx="1919160" cy="474480"/>
          </a:xfrm>
          <a:prstGeom prst="roundRect">
            <a:avLst>
              <a:gd name="adj" fmla="val 30769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Image 5" descr="preencoded.png"/>
          <p:cNvPicPr/>
          <p:nvPr/>
        </p:nvPicPr>
        <p:blipFill>
          <a:blip r:embed="rId6"/>
          <a:stretch/>
        </p:blipFill>
        <p:spPr>
          <a:xfrm>
            <a:off x="7150680" y="22676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84" name="Text 15"/>
          <p:cNvSpPr/>
          <p:nvPr/>
        </p:nvSpPr>
        <p:spPr>
          <a:xfrm>
            <a:off x="7534800" y="2176200"/>
            <a:ext cx="1315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9d1d9"/>
                </a:solidFill>
                <a:latin typeface="Courier New"/>
                <a:ea typeface="Courier New"/>
              </a:rPr>
              <a:t>Archivos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6"/>
          <p:cNvSpPr/>
          <p:nvPr/>
        </p:nvSpPr>
        <p:spPr>
          <a:xfrm>
            <a:off x="9061560" y="2176200"/>
            <a:ext cx="1919160" cy="474480"/>
          </a:xfrm>
          <a:prstGeom prst="roundRect">
            <a:avLst>
              <a:gd name="adj" fmla="val 30769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Image 6" descr="preencoded.png"/>
          <p:cNvPicPr/>
          <p:nvPr/>
        </p:nvPicPr>
        <p:blipFill>
          <a:blip r:embed="rId7"/>
          <a:stretch/>
        </p:blipFill>
        <p:spPr>
          <a:xfrm>
            <a:off x="9189720" y="22676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87" name="Text 17"/>
          <p:cNvSpPr/>
          <p:nvPr/>
        </p:nvSpPr>
        <p:spPr>
          <a:xfrm>
            <a:off x="9573840" y="2176200"/>
            <a:ext cx="13158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9d1d9"/>
                </a:solidFill>
                <a:latin typeface="Courier New"/>
                <a:ea typeface="Courier New"/>
              </a:rPr>
              <a:t>Red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640080" y="3090600"/>
            <a:ext cx="5942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f6fc"/>
                </a:solidFill>
                <a:latin typeface="Arial"/>
                <a:ea typeface="Arial"/>
              </a:rPr>
              <a:t>2. Linux es Unix-like, no UNIX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9"/>
          <p:cNvSpPr/>
          <p:nvPr/>
        </p:nvSpPr>
        <p:spPr>
          <a:xfrm>
            <a:off x="640080" y="3474720"/>
            <a:ext cx="1919160" cy="501840"/>
          </a:xfrm>
          <a:prstGeom prst="roundRect">
            <a:avLst>
              <a:gd name="adj" fmla="val 29091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0" name="Image 7" descr="preencoded.png"/>
          <p:cNvPicPr/>
          <p:nvPr/>
        </p:nvPicPr>
        <p:blipFill>
          <a:blip r:embed="rId8"/>
          <a:stretch/>
        </p:blipFill>
        <p:spPr>
          <a:xfrm>
            <a:off x="768240" y="35798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91" name="Text 20"/>
          <p:cNvSpPr/>
          <p:nvPr/>
        </p:nvSpPr>
        <p:spPr>
          <a:xfrm>
            <a:off x="1152000" y="3474720"/>
            <a:ext cx="13158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b949e"/>
                </a:solidFill>
                <a:latin typeface="Calibri"/>
                <a:ea typeface="Calibri"/>
              </a:rPr>
              <a:t>UNIX (propietario)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9631440" y="3474720"/>
            <a:ext cx="1919160" cy="501840"/>
          </a:xfrm>
          <a:prstGeom prst="roundRect">
            <a:avLst>
              <a:gd name="adj" fmla="val 29091"/>
            </a:avLst>
          </a:prstGeom>
          <a:solidFill>
            <a:srgbClr val="1b242c"/>
          </a:solidFill>
          <a:ln w="1270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8" descr="preencoded.png"/>
          <p:cNvPicPr/>
          <p:nvPr/>
        </p:nvPicPr>
        <p:blipFill>
          <a:blip r:embed="rId9"/>
          <a:stretch/>
        </p:blipFill>
        <p:spPr>
          <a:xfrm>
            <a:off x="9759240" y="35798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94" name="Text 22"/>
          <p:cNvSpPr/>
          <p:nvPr/>
        </p:nvSpPr>
        <p:spPr>
          <a:xfrm>
            <a:off x="10143360" y="3474720"/>
            <a:ext cx="13158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0f6fc"/>
                </a:solidFill>
                <a:latin typeface="Calibri"/>
                <a:ea typeface="Calibri"/>
              </a:rPr>
              <a:t>Linux (libre)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23"/>
          <p:cNvSpPr/>
          <p:nvPr/>
        </p:nvSpPr>
        <p:spPr>
          <a:xfrm>
            <a:off x="2633400" y="3726000"/>
            <a:ext cx="6924600" cy="1080"/>
          </a:xfrm>
          <a:prstGeom prst="line">
            <a:avLst/>
          </a:prstGeom>
          <a:ln w="1905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3920" bIns="-4392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4"/>
          <p:cNvSpPr/>
          <p:nvPr/>
        </p:nvSpPr>
        <p:spPr>
          <a:xfrm>
            <a:off x="2651760" y="3182040"/>
            <a:ext cx="6887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b949e"/>
                </a:solidFill>
                <a:latin typeface="Calibri"/>
                <a:ea typeface="Calibri"/>
              </a:rPr>
              <a:t>inspira ideas y filosofía — no deriva de su código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5"/>
          <p:cNvSpPr/>
          <p:nvPr/>
        </p:nvSpPr>
        <p:spPr>
          <a:xfrm>
            <a:off x="640080" y="4343400"/>
            <a:ext cx="10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f6fc"/>
                </a:solidFill>
                <a:latin typeface="Arial"/>
                <a:ea typeface="Arial"/>
              </a:rPr>
              <a:t>3. Si Linux es libre, ¿por qué existen tantos sistemas diferentes?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6"/>
          <p:cNvSpPr/>
          <p:nvPr/>
        </p:nvSpPr>
        <p:spPr>
          <a:xfrm>
            <a:off x="640080" y="4690800"/>
            <a:ext cx="1091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  <a:ea typeface="Calibri"/>
              </a:rPr>
              <a:t>Linux no es un producto único: es un kernel alrededor del cual cada comunidad construye su propio sistema, eligiendo: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7"/>
          <p:cNvSpPr/>
          <p:nvPr/>
        </p:nvSpPr>
        <p:spPr>
          <a:xfrm>
            <a:off x="640080" y="5074920"/>
            <a:ext cx="3538440" cy="456120"/>
          </a:xfrm>
          <a:prstGeom prst="roundRect">
            <a:avLst>
              <a:gd name="adj" fmla="val 32000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0" name="Image 9" descr="preencoded.png"/>
          <p:cNvPicPr/>
          <p:nvPr/>
        </p:nvPicPr>
        <p:blipFill>
          <a:blip r:embed="rId10"/>
          <a:stretch/>
        </p:blipFill>
        <p:spPr>
          <a:xfrm>
            <a:off x="768240" y="51573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01" name="Text 28"/>
          <p:cNvSpPr/>
          <p:nvPr/>
        </p:nvSpPr>
        <p:spPr>
          <a:xfrm>
            <a:off x="1152000" y="5074920"/>
            <a:ext cx="293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  <a:ea typeface="Calibri"/>
              </a:rPr>
              <a:t>Paquetes y apps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29"/>
          <p:cNvSpPr/>
          <p:nvPr/>
        </p:nvSpPr>
        <p:spPr>
          <a:xfrm>
            <a:off x="4326120" y="5074920"/>
            <a:ext cx="3538440" cy="456120"/>
          </a:xfrm>
          <a:prstGeom prst="roundRect">
            <a:avLst>
              <a:gd name="adj" fmla="val 32000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3" name="Image 10" descr="preencoded.png"/>
          <p:cNvPicPr/>
          <p:nvPr/>
        </p:nvPicPr>
        <p:blipFill>
          <a:blip r:embed="rId11"/>
          <a:stretch/>
        </p:blipFill>
        <p:spPr>
          <a:xfrm>
            <a:off x="4453920" y="51573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04" name="Text 30"/>
          <p:cNvSpPr/>
          <p:nvPr/>
        </p:nvSpPr>
        <p:spPr>
          <a:xfrm>
            <a:off x="4838040" y="5074920"/>
            <a:ext cx="293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  <a:ea typeface="Calibri"/>
              </a:rPr>
              <a:t>Herramientas y config.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31"/>
          <p:cNvSpPr/>
          <p:nvPr/>
        </p:nvSpPr>
        <p:spPr>
          <a:xfrm>
            <a:off x="8011800" y="5074920"/>
            <a:ext cx="3538440" cy="456120"/>
          </a:xfrm>
          <a:prstGeom prst="roundRect">
            <a:avLst>
              <a:gd name="adj" fmla="val 32000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6" name="Image 11" descr="preencoded.png"/>
          <p:cNvPicPr/>
          <p:nvPr/>
        </p:nvPicPr>
        <p:blipFill>
          <a:blip r:embed="rId12"/>
          <a:stretch/>
        </p:blipFill>
        <p:spPr>
          <a:xfrm>
            <a:off x="8139960" y="51573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07" name="Text 32"/>
          <p:cNvSpPr/>
          <p:nvPr/>
        </p:nvSpPr>
        <p:spPr>
          <a:xfrm>
            <a:off x="8524080" y="5074920"/>
            <a:ext cx="293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  <a:ea typeface="Calibri"/>
              </a:rPr>
              <a:t>Gestores de paquetes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33"/>
          <p:cNvSpPr/>
          <p:nvPr/>
        </p:nvSpPr>
        <p:spPr>
          <a:xfrm>
            <a:off x="640080" y="5650920"/>
            <a:ext cx="3538440" cy="456120"/>
          </a:xfrm>
          <a:prstGeom prst="roundRect">
            <a:avLst>
              <a:gd name="adj" fmla="val 32000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12" descr="preencoded.png"/>
          <p:cNvPicPr/>
          <p:nvPr/>
        </p:nvPicPr>
        <p:blipFill>
          <a:blip r:embed="rId13"/>
          <a:stretch/>
        </p:blipFill>
        <p:spPr>
          <a:xfrm>
            <a:off x="768240" y="57333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10" name="Text 34"/>
          <p:cNvSpPr/>
          <p:nvPr/>
        </p:nvSpPr>
        <p:spPr>
          <a:xfrm>
            <a:off x="1152000" y="5650920"/>
            <a:ext cx="293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  <a:ea typeface="Calibri"/>
              </a:rPr>
              <a:t>Entornos de escritorio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35"/>
          <p:cNvSpPr/>
          <p:nvPr/>
        </p:nvSpPr>
        <p:spPr>
          <a:xfrm>
            <a:off x="4326120" y="5650920"/>
            <a:ext cx="3538440" cy="456120"/>
          </a:xfrm>
          <a:prstGeom prst="roundRect">
            <a:avLst>
              <a:gd name="adj" fmla="val 32000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2" name="Image 13" descr="preencoded.png"/>
          <p:cNvPicPr/>
          <p:nvPr/>
        </p:nvPicPr>
        <p:blipFill>
          <a:blip r:embed="rId14"/>
          <a:stretch/>
        </p:blipFill>
        <p:spPr>
          <a:xfrm>
            <a:off x="4453920" y="57333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13" name="Text 36"/>
          <p:cNvSpPr/>
          <p:nvPr/>
        </p:nvSpPr>
        <p:spPr>
          <a:xfrm>
            <a:off x="4838040" y="5650920"/>
            <a:ext cx="293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  <a:ea typeface="Calibri"/>
              </a:rPr>
              <a:t>Modelos de actualización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37"/>
          <p:cNvSpPr/>
          <p:nvPr/>
        </p:nvSpPr>
        <p:spPr>
          <a:xfrm>
            <a:off x="8011800" y="5650920"/>
            <a:ext cx="3538440" cy="456120"/>
          </a:xfrm>
          <a:prstGeom prst="roundRect">
            <a:avLst>
              <a:gd name="adj" fmla="val 32000"/>
            </a:avLst>
          </a:prstGeom>
          <a:solidFill>
            <a:srgbClr val="1b242c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5" name="Image 14" descr="preencoded.png"/>
          <p:cNvPicPr/>
          <p:nvPr/>
        </p:nvPicPr>
        <p:blipFill>
          <a:blip r:embed="rId15"/>
          <a:stretch/>
        </p:blipFill>
        <p:spPr>
          <a:xfrm>
            <a:off x="8139960" y="57333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16" name="Text 38"/>
          <p:cNvSpPr/>
          <p:nvPr/>
        </p:nvSpPr>
        <p:spPr>
          <a:xfrm>
            <a:off x="8524080" y="5650920"/>
            <a:ext cx="293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  <a:ea typeface="Calibri"/>
              </a:rPr>
              <a:t>Políticas de seguridad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640080" y="384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PRESENTE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640080" y="65844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0f6fc"/>
                </a:solidFill>
                <a:latin typeface="Arial"/>
                <a:ea typeface="Arial"/>
              </a:rPr>
              <a:t>Actualidad de Linux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 flipV="1">
            <a:off x="6095520" y="2331720"/>
            <a:ext cx="1080" cy="1828800"/>
          </a:xfrm>
          <a:prstGeom prst="line">
            <a:avLst/>
          </a:prstGeom>
          <a:ln w="2222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 flipV="1">
            <a:off x="6095520" y="3520440"/>
            <a:ext cx="3246120" cy="640080"/>
          </a:xfrm>
          <a:prstGeom prst="line">
            <a:avLst/>
          </a:prstGeom>
          <a:ln w="2222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6095520" y="4160520"/>
            <a:ext cx="2331720" cy="1463040"/>
          </a:xfrm>
          <a:prstGeom prst="line">
            <a:avLst/>
          </a:prstGeom>
          <a:ln w="2222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5"/>
          <p:cNvSpPr/>
          <p:nvPr/>
        </p:nvSpPr>
        <p:spPr>
          <a:xfrm flipV="1">
            <a:off x="3763800" y="4160520"/>
            <a:ext cx="2331720" cy="1463040"/>
          </a:xfrm>
          <a:prstGeom prst="line">
            <a:avLst/>
          </a:prstGeom>
          <a:ln w="2222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2849400" y="3520440"/>
            <a:ext cx="3246120" cy="640080"/>
          </a:xfrm>
          <a:prstGeom prst="line">
            <a:avLst/>
          </a:prstGeom>
          <a:ln w="22225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5227200" y="3291840"/>
            <a:ext cx="1736280" cy="1736280"/>
          </a:xfrm>
          <a:prstGeom prst="ellipse">
            <a:avLst/>
          </a:prstGeom>
          <a:solidFill>
            <a:srgbClr val="f0a83e"/>
          </a:solidFill>
          <a:ln w="38100">
            <a:solidFill>
              <a:srgbClr val="0b0f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Image 0" descr="preencoded.png"/>
          <p:cNvPicPr/>
          <p:nvPr/>
        </p:nvPicPr>
        <p:blipFill>
          <a:blip r:embed="rId1"/>
          <a:stretch/>
        </p:blipFill>
        <p:spPr>
          <a:xfrm>
            <a:off x="5711760" y="3703320"/>
            <a:ext cx="767160" cy="767160"/>
          </a:xfrm>
          <a:prstGeom prst="rect">
            <a:avLst/>
          </a:prstGeom>
          <a:ln w="0">
            <a:noFill/>
          </a:ln>
        </p:spPr>
      </p:pic>
      <p:sp>
        <p:nvSpPr>
          <p:cNvPr id="226" name="Text 8"/>
          <p:cNvSpPr/>
          <p:nvPr/>
        </p:nvSpPr>
        <p:spPr>
          <a:xfrm>
            <a:off x="5227200" y="4489560"/>
            <a:ext cx="1736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0f14"/>
                </a:solidFill>
                <a:latin typeface="Courier New"/>
                <a:ea typeface="Courier New"/>
              </a:rPr>
              <a:t>LINUX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4678560" y="1737360"/>
            <a:ext cx="2833560" cy="1187640"/>
          </a:xfrm>
          <a:prstGeom prst="roundRect">
            <a:avLst>
              <a:gd name="adj" fmla="val 7692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4879800" y="2075760"/>
            <a:ext cx="510840" cy="5108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1" descr="preencoded.png"/>
          <p:cNvPicPr/>
          <p:nvPr/>
        </p:nvPicPr>
        <p:blipFill>
          <a:blip r:embed="rId2"/>
          <a:stretch/>
        </p:blipFill>
        <p:spPr>
          <a:xfrm>
            <a:off x="5018040" y="2214000"/>
            <a:ext cx="234360" cy="234360"/>
          </a:xfrm>
          <a:prstGeom prst="rect">
            <a:avLst/>
          </a:prstGeom>
          <a:ln w="0">
            <a:noFill/>
          </a:ln>
        </p:spPr>
      </p:pic>
      <p:sp>
        <p:nvSpPr>
          <p:cNvPr id="230" name="Text 11"/>
          <p:cNvSpPr/>
          <p:nvPr/>
        </p:nvSpPr>
        <p:spPr>
          <a:xfrm>
            <a:off x="5501520" y="18655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0f6fc"/>
                </a:solidFill>
                <a:latin typeface="Arial"/>
                <a:ea typeface="Arial"/>
              </a:rPr>
              <a:t>Servidores e Internet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5501520" y="245052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b949e"/>
                </a:solidFill>
                <a:latin typeface="Calibri"/>
                <a:ea typeface="Calibri"/>
              </a:rPr>
              <a:t>Web · infraestructura de Internet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3"/>
          <p:cNvSpPr/>
          <p:nvPr/>
        </p:nvSpPr>
        <p:spPr>
          <a:xfrm>
            <a:off x="7924680" y="2926080"/>
            <a:ext cx="2833560" cy="1187640"/>
          </a:xfrm>
          <a:prstGeom prst="roundRect">
            <a:avLst>
              <a:gd name="adj" fmla="val 7692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8125920" y="3264480"/>
            <a:ext cx="510840" cy="5108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4" name="Image 2" descr="preencoded.png"/>
          <p:cNvPicPr/>
          <p:nvPr/>
        </p:nvPicPr>
        <p:blipFill>
          <a:blip r:embed="rId3"/>
          <a:stretch/>
        </p:blipFill>
        <p:spPr>
          <a:xfrm>
            <a:off x="8264160" y="3402720"/>
            <a:ext cx="234360" cy="234360"/>
          </a:xfrm>
          <a:prstGeom prst="rect">
            <a:avLst/>
          </a:prstGeom>
          <a:ln w="0">
            <a:noFill/>
          </a:ln>
        </p:spPr>
      </p:pic>
      <p:sp>
        <p:nvSpPr>
          <p:cNvPr id="235" name="Text 15"/>
          <p:cNvSpPr/>
          <p:nvPr/>
        </p:nvSpPr>
        <p:spPr>
          <a:xfrm>
            <a:off x="8747640" y="305424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0f6fc"/>
                </a:solidFill>
                <a:latin typeface="Arial"/>
                <a:ea typeface="Arial"/>
              </a:rPr>
              <a:t>Supercomputación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8747640" y="363924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b949e"/>
                </a:solidFill>
                <a:latin typeface="Calibri"/>
                <a:ea typeface="Calibri"/>
              </a:rPr>
              <a:t>Presente en la totalidad del TOP 500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7010280" y="5029200"/>
            <a:ext cx="2833560" cy="1187640"/>
          </a:xfrm>
          <a:prstGeom prst="roundRect">
            <a:avLst>
              <a:gd name="adj" fmla="val 7692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7211520" y="5367600"/>
            <a:ext cx="510840" cy="5108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3" descr="preencoded.png"/>
          <p:cNvPicPr/>
          <p:nvPr/>
        </p:nvPicPr>
        <p:blipFill>
          <a:blip r:embed="rId4"/>
          <a:stretch/>
        </p:blipFill>
        <p:spPr>
          <a:xfrm>
            <a:off x="7349760" y="5505840"/>
            <a:ext cx="234360" cy="234360"/>
          </a:xfrm>
          <a:prstGeom prst="rect">
            <a:avLst/>
          </a:prstGeom>
          <a:ln w="0">
            <a:noFill/>
          </a:ln>
        </p:spPr>
      </p:pic>
      <p:sp>
        <p:nvSpPr>
          <p:cNvPr id="240" name="Text 19"/>
          <p:cNvSpPr/>
          <p:nvPr/>
        </p:nvSpPr>
        <p:spPr>
          <a:xfrm>
            <a:off x="7833240" y="51573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0f6fc"/>
                </a:solidFill>
                <a:latin typeface="Arial"/>
                <a:ea typeface="Arial"/>
              </a:rPr>
              <a:t>Cloud y contenedores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7833240" y="574236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b949e"/>
                </a:solidFill>
                <a:latin typeface="Calibri"/>
                <a:ea typeface="Calibri"/>
              </a:rPr>
              <a:t>VMs · Docker · Kubernetes · DevOps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2346840" y="5029200"/>
            <a:ext cx="2833560" cy="1187640"/>
          </a:xfrm>
          <a:prstGeom prst="roundRect">
            <a:avLst>
              <a:gd name="adj" fmla="val 7692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2548080" y="5367600"/>
            <a:ext cx="510840" cy="5108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4" name="Image 4" descr="preencoded.png"/>
          <p:cNvPicPr/>
          <p:nvPr/>
        </p:nvPicPr>
        <p:blipFill>
          <a:blip r:embed="rId5"/>
          <a:stretch/>
        </p:blipFill>
        <p:spPr>
          <a:xfrm>
            <a:off x="2686320" y="5505840"/>
            <a:ext cx="234360" cy="234360"/>
          </a:xfrm>
          <a:prstGeom prst="rect">
            <a:avLst/>
          </a:prstGeom>
          <a:ln w="0">
            <a:noFill/>
          </a:ln>
        </p:spPr>
      </p:pic>
      <p:sp>
        <p:nvSpPr>
          <p:cNvPr id="245" name="Text 23"/>
          <p:cNvSpPr/>
          <p:nvPr/>
        </p:nvSpPr>
        <p:spPr>
          <a:xfrm>
            <a:off x="3169800" y="51573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0f6fc"/>
                </a:solidFill>
                <a:latin typeface="Arial"/>
                <a:ea typeface="Arial"/>
              </a:rPr>
              <a:t>Dispositivos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24"/>
          <p:cNvSpPr/>
          <p:nvPr/>
        </p:nvSpPr>
        <p:spPr>
          <a:xfrm>
            <a:off x="3169800" y="574236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b949e"/>
                </a:solidFill>
                <a:latin typeface="Calibri"/>
                <a:ea typeface="Calibri"/>
              </a:rPr>
              <a:t>Android · routers · IoT · smart TVs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5"/>
          <p:cNvSpPr/>
          <p:nvPr/>
        </p:nvSpPr>
        <p:spPr>
          <a:xfrm>
            <a:off x="1432440" y="2926080"/>
            <a:ext cx="2833560" cy="1187640"/>
          </a:xfrm>
          <a:prstGeom prst="roundRect">
            <a:avLst>
              <a:gd name="adj" fmla="val 7692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26"/>
          <p:cNvSpPr/>
          <p:nvPr/>
        </p:nvSpPr>
        <p:spPr>
          <a:xfrm>
            <a:off x="1633680" y="3264480"/>
            <a:ext cx="510840" cy="5108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" name="Image 5" descr="preencoded.png"/>
          <p:cNvPicPr/>
          <p:nvPr/>
        </p:nvPicPr>
        <p:blipFill>
          <a:blip r:embed="rId6"/>
          <a:stretch/>
        </p:blipFill>
        <p:spPr>
          <a:xfrm>
            <a:off x="1771920" y="3402720"/>
            <a:ext cx="234360" cy="234360"/>
          </a:xfrm>
          <a:prstGeom prst="rect">
            <a:avLst/>
          </a:prstGeom>
          <a:ln w="0">
            <a:noFill/>
          </a:ln>
        </p:spPr>
      </p:pic>
      <p:sp>
        <p:nvSpPr>
          <p:cNvPr id="250" name="Text 27"/>
          <p:cNvSpPr/>
          <p:nvPr/>
        </p:nvSpPr>
        <p:spPr>
          <a:xfrm>
            <a:off x="2255400" y="305424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0f6fc"/>
                </a:solidFill>
                <a:latin typeface="Arial"/>
                <a:ea typeface="Arial"/>
              </a:rPr>
              <a:t>Ciberseguridad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2255400" y="3639240"/>
            <a:ext cx="1827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b949e"/>
                </a:solidFill>
                <a:latin typeface="Calibri"/>
                <a:ea typeface="Calibri"/>
              </a:rPr>
              <a:t>Base de gran parte del stack defensivo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640080" y="3841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f0a83e"/>
                </a:solidFill>
                <a:latin typeface="Courier New"/>
                <a:ea typeface="Courier New"/>
              </a:rPr>
              <a:t>CIERRE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640080" y="658440"/>
            <a:ext cx="10880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0f6fc"/>
                </a:solidFill>
                <a:latin typeface="Arial"/>
                <a:ea typeface="Arial"/>
              </a:rPr>
              <a:t>¿Por qué aprender Linux?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700920" y="1463040"/>
            <a:ext cx="3382200" cy="3336480"/>
          </a:xfrm>
          <a:prstGeom prst="roundRect">
            <a:avLst>
              <a:gd name="adj" fmla="val 2740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2081520" y="1719000"/>
            <a:ext cx="620640" cy="6206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6" name="Image 0" descr="preencoded.png"/>
          <p:cNvPicPr/>
          <p:nvPr/>
        </p:nvPicPr>
        <p:blipFill>
          <a:blip r:embed="rId1"/>
          <a:stretch/>
        </p:blipFill>
        <p:spPr>
          <a:xfrm>
            <a:off x="2249640" y="1887120"/>
            <a:ext cx="285120" cy="285120"/>
          </a:xfrm>
          <a:prstGeom prst="rect">
            <a:avLst/>
          </a:prstGeom>
          <a:ln w="0">
            <a:noFill/>
          </a:ln>
        </p:spPr>
      </p:pic>
      <p:sp>
        <p:nvSpPr>
          <p:cNvPr id="257" name="Text 4"/>
          <p:cNvSpPr/>
          <p:nvPr/>
        </p:nvSpPr>
        <p:spPr>
          <a:xfrm>
            <a:off x="929520" y="245052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f6fc"/>
                </a:solidFill>
                <a:latin typeface="Arial"/>
                <a:ea typeface="Arial"/>
              </a:rPr>
              <a:t>Entender el sistema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1112400" y="2944440"/>
            <a:ext cx="269640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Procesos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Memoria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Permisos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Sistemas de archivos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Servicios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Redes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Kernel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4404240" y="1463040"/>
            <a:ext cx="3382200" cy="3336480"/>
          </a:xfrm>
          <a:prstGeom prst="roundRect">
            <a:avLst>
              <a:gd name="adj" fmla="val 2740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5784840" y="1719000"/>
            <a:ext cx="620640" cy="6206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1" name="Image 1" descr="preencoded.png"/>
          <p:cNvPicPr/>
          <p:nvPr/>
        </p:nvPicPr>
        <p:blipFill>
          <a:blip r:embed="rId2"/>
          <a:stretch/>
        </p:blipFill>
        <p:spPr>
          <a:xfrm>
            <a:off x="5952960" y="1887120"/>
            <a:ext cx="285120" cy="285120"/>
          </a:xfrm>
          <a:prstGeom prst="rect">
            <a:avLst/>
          </a:prstGeom>
          <a:ln w="0">
            <a:noFill/>
          </a:ln>
        </p:spPr>
      </p:pic>
      <p:sp>
        <p:nvSpPr>
          <p:cNvPr id="262" name="Text 8"/>
          <p:cNvSpPr/>
          <p:nvPr/>
        </p:nvSpPr>
        <p:spPr>
          <a:xfrm>
            <a:off x="4632840" y="245052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f6fc"/>
                </a:solidFill>
                <a:latin typeface="Arial"/>
                <a:ea typeface="Arial"/>
              </a:rPr>
              <a:t>Herramienta profesional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4815720" y="2944440"/>
            <a:ext cx="269640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Servidores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Cloud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Contenedores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Infraestructura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Desarrollo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c9d1d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c9d1d9"/>
                </a:solidFill>
                <a:latin typeface="Calibri"/>
                <a:ea typeface="Calibri"/>
              </a:rPr>
              <a:t>Ciberseguridad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8107560" y="1463040"/>
            <a:ext cx="3382200" cy="3336480"/>
          </a:xfrm>
          <a:prstGeom prst="roundRect">
            <a:avLst>
              <a:gd name="adj" fmla="val 2740"/>
            </a:avLst>
          </a:prstGeom>
          <a:solidFill>
            <a:srgbClr val="14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9488160" y="1719000"/>
            <a:ext cx="620640" cy="620640"/>
          </a:xfrm>
          <a:prstGeom prst="ellipse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6" name="Image 2" descr="preencoded.png"/>
          <p:cNvPicPr/>
          <p:nvPr/>
        </p:nvPicPr>
        <p:blipFill>
          <a:blip r:embed="rId3"/>
          <a:stretch/>
        </p:blipFill>
        <p:spPr>
          <a:xfrm>
            <a:off x="9656280" y="1887120"/>
            <a:ext cx="285120" cy="285120"/>
          </a:xfrm>
          <a:prstGeom prst="rect">
            <a:avLst/>
          </a:prstGeom>
          <a:ln w="0">
            <a:noFill/>
          </a:ln>
        </p:spPr>
      </p:pic>
      <p:sp>
        <p:nvSpPr>
          <p:cNvPr id="267" name="Text 12"/>
          <p:cNvSpPr/>
          <p:nvPr/>
        </p:nvSpPr>
        <p:spPr>
          <a:xfrm>
            <a:off x="8336160" y="245052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f6fc"/>
                </a:solidFill>
                <a:latin typeface="Arial"/>
                <a:ea typeface="Arial"/>
              </a:rPr>
              <a:t>Control y automatización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8427600" y="2971800"/>
            <a:ext cx="2742120" cy="383040"/>
          </a:xfrm>
          <a:prstGeom prst="roundRect">
            <a:avLst>
              <a:gd name="adj" fmla="val 23810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8427600" y="2971800"/>
            <a:ext cx="2742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9d353"/>
                </a:solidFill>
                <a:latin typeface="Courier New"/>
                <a:ea typeface="Courier New"/>
              </a:rPr>
              <a:t>Combinar herramientas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8427600" y="33375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  <a:ea typeface="Calibri"/>
              </a:rPr>
              <a:t>▾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8427600" y="3648600"/>
            <a:ext cx="2742120" cy="383040"/>
          </a:xfrm>
          <a:prstGeom prst="roundRect">
            <a:avLst>
              <a:gd name="adj" fmla="val 23810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8427600" y="3648600"/>
            <a:ext cx="2742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9d353"/>
                </a:solidFill>
                <a:latin typeface="Courier New"/>
                <a:ea typeface="Courier New"/>
              </a:rPr>
              <a:t>Automatizar tareas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8427600" y="40143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  <a:ea typeface="Calibri"/>
              </a:rPr>
              <a:t>▾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8427600" y="4325040"/>
            <a:ext cx="2742120" cy="383040"/>
          </a:xfrm>
          <a:prstGeom prst="roundRect">
            <a:avLst>
              <a:gd name="adj" fmla="val 23810"/>
            </a:avLst>
          </a:prstGeom>
          <a:solidFill>
            <a:srgbClr val="1b242c"/>
          </a:solidFill>
          <a:ln w="12700">
            <a:solidFill>
              <a:srgbClr val="2a9d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20"/>
          <p:cNvSpPr/>
          <p:nvPr/>
        </p:nvSpPr>
        <p:spPr>
          <a:xfrm>
            <a:off x="8427600" y="4325040"/>
            <a:ext cx="2742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9d353"/>
                </a:solidFill>
                <a:latin typeface="Courier New"/>
                <a:ea typeface="Courier New"/>
              </a:rPr>
              <a:t>Crear soluciones propias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21"/>
          <p:cNvSpPr/>
          <p:nvPr/>
        </p:nvSpPr>
        <p:spPr>
          <a:xfrm>
            <a:off x="640080" y="5056560"/>
            <a:ext cx="10910520" cy="1388880"/>
          </a:xfrm>
          <a:prstGeom prst="roundRect">
            <a:avLst>
              <a:gd name="adj" fmla="val 6579"/>
            </a:avLst>
          </a:prstGeom>
          <a:solidFill>
            <a:srgbClr val="1b242c"/>
          </a:solidFill>
          <a:ln w="15875">
            <a:solidFill>
              <a:srgbClr val="f0a8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22"/>
          <p:cNvSpPr/>
          <p:nvPr/>
        </p:nvSpPr>
        <p:spPr>
          <a:xfrm>
            <a:off x="1005840" y="518472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b949e"/>
                </a:solidFill>
                <a:latin typeface="Courier New"/>
                <a:ea typeface="Courier New"/>
              </a:rPr>
              <a:t>root@kernel:~$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3"/>
          <p:cNvSpPr/>
          <p:nvPr/>
        </p:nvSpPr>
        <p:spPr>
          <a:xfrm>
            <a:off x="1005840" y="5422320"/>
            <a:ext cx="1017900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i="1" lang="en-US" sz="1900" spc="-1" strike="noStrike">
                <a:solidFill>
                  <a:srgbClr val="f0f6fc"/>
                </a:solidFill>
                <a:latin typeface="Arial"/>
                <a:ea typeface="Arial"/>
              </a:rPr>
              <a:t>Aprender Linux no significa aprender a usar una distribución.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i="1" lang="en-US" sz="1900" spc="-1" strike="noStrike">
                <a:solidFill>
                  <a:srgbClr val="f0f6fc"/>
                </a:solidFill>
                <a:latin typeface="Arial"/>
                <a:ea typeface="Arial"/>
              </a:rPr>
              <a:t>Significa aprender cómo funciona el sistema.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2026-09-13T22:08:10Z</dcterms:created>
  <dc:creator>PptxGenJS</dc:creator>
  <dc:description/>
  <dc:language>en-US</dc:language>
  <cp:lastModifiedBy/>
  <dcterms:modified xsi:type="dcterms:W3CDTF">2026-09-17T23:05:33Z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